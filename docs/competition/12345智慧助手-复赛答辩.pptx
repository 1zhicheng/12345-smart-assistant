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f22ecfb684a85" /><Relationship Type="http://schemas.openxmlformats.org/officeDocument/2006/relationships/extended-properties" Target="/docProps/app.xml" Id="Rdd94059466674437" /><Relationship Type="http://schemas.openxmlformats.org/officeDocument/2006/relationships/officeDocument" Target="/ppt/presentation.xml" Id="R86072c2e62b240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30f4711a5f40b9"/>
  </p:sldMasterIdLst>
  <p:notesMasterIdLst>
    <p:notesMasterId xmlns:r="http://schemas.openxmlformats.org/officeDocument/2006/relationships" r:id="R78428698f7214429"/>
  </p:notesMasterIdLst>
  <p:sldIdLst>
    <p:sldId xmlns:r="http://schemas.openxmlformats.org/officeDocument/2006/relationships" id="256" r:id="Rbdf6a2e9f1d64545"/>
    <p:sldId xmlns:r="http://schemas.openxmlformats.org/officeDocument/2006/relationships" id="257" r:id="R60de2d96107b43c6"/>
    <p:sldId xmlns:r="http://schemas.openxmlformats.org/officeDocument/2006/relationships" id="258" r:id="Rf19e15fb4e604b5d"/>
    <p:sldId xmlns:r="http://schemas.openxmlformats.org/officeDocument/2006/relationships" id="259" r:id="Re366c55b0b8e496c"/>
    <p:sldId xmlns:r="http://schemas.openxmlformats.org/officeDocument/2006/relationships" id="260" r:id="R92aa609cd9574ef5"/>
    <p:sldId xmlns:r="http://schemas.openxmlformats.org/officeDocument/2006/relationships" id="261" r:id="Rdcbd5937a85b4979"/>
    <p:sldId xmlns:r="http://schemas.openxmlformats.org/officeDocument/2006/relationships" id="262" r:id="R692e4b0487d84f5b"/>
    <p:sldId xmlns:r="http://schemas.openxmlformats.org/officeDocument/2006/relationships" id="263" r:id="Rf373134b1ce3422f"/>
    <p:sldId xmlns:r="http://schemas.openxmlformats.org/officeDocument/2006/relationships" id="264" r:id="Rd171fea3060a426a"/>
    <p:sldId xmlns:r="http://schemas.openxmlformats.org/officeDocument/2006/relationships" id="265" r:id="Ra90e711047704c7f"/>
    <p:sldId xmlns:r="http://schemas.openxmlformats.org/officeDocument/2006/relationships" id="266" r:id="R6a7c5e4512f04d7b"/>
    <p:sldId xmlns:r="http://schemas.openxmlformats.org/officeDocument/2006/relationships" id="267" r:id="Ra718db15344241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5c0a2661c483b" /><Relationship Type="http://schemas.openxmlformats.org/officeDocument/2006/relationships/slideMaster" Target="/ppt/slideMasters/slideMaster1.xml" Id="R9330f4711a5f40b9" /><Relationship Type="http://schemas.openxmlformats.org/officeDocument/2006/relationships/notesMaster" Target="/ppt/notesMasters/notesMaster1.xml" Id="R78428698f7214429" /><Relationship Type="http://schemas.openxmlformats.org/officeDocument/2006/relationships/presProps" Target="/ppt/presProps.xml" Id="Rf3c811614c934307" /><Relationship Type="http://schemas.openxmlformats.org/officeDocument/2006/relationships/tableStyles" Target="/ppt/tableStyles.xml" Id="R382fcae10bf84e9f" /><Relationship Type="http://schemas.openxmlformats.org/officeDocument/2006/relationships/slide" Target="/ppt/slides/slide1.xml" Id="Rbdf6a2e9f1d64545" /><Relationship Type="http://schemas.openxmlformats.org/officeDocument/2006/relationships/slide" Target="/ppt/slides/slide2.xml" Id="R60de2d96107b43c6" /><Relationship Type="http://schemas.openxmlformats.org/officeDocument/2006/relationships/slide" Target="/ppt/slides/slide3.xml" Id="Rf19e15fb4e604b5d" /><Relationship Type="http://schemas.openxmlformats.org/officeDocument/2006/relationships/slide" Target="/ppt/slides/slide4.xml" Id="Re366c55b0b8e496c" /><Relationship Type="http://schemas.openxmlformats.org/officeDocument/2006/relationships/slide" Target="/ppt/slides/slide5.xml" Id="R92aa609cd9574ef5" /><Relationship Type="http://schemas.openxmlformats.org/officeDocument/2006/relationships/slide" Target="/ppt/slides/slide6.xml" Id="Rdcbd5937a85b4979" /><Relationship Type="http://schemas.openxmlformats.org/officeDocument/2006/relationships/slide" Target="/ppt/slides/slide7.xml" Id="R692e4b0487d84f5b" /><Relationship Type="http://schemas.openxmlformats.org/officeDocument/2006/relationships/slide" Target="/ppt/slides/slide8.xml" Id="Rf373134b1ce3422f" /><Relationship Type="http://schemas.openxmlformats.org/officeDocument/2006/relationships/slide" Target="/ppt/slides/slide9.xml" Id="Rd171fea3060a426a" /><Relationship Type="http://schemas.openxmlformats.org/officeDocument/2006/relationships/slide" Target="/ppt/slides/slide10.xml" Id="Ra90e711047704c7f" /><Relationship Type="http://schemas.openxmlformats.org/officeDocument/2006/relationships/slide" Target="/ppt/slides/slide11.xml" Id="R6a7c5e4512f04d7b" /><Relationship Type="http://schemas.openxmlformats.org/officeDocument/2006/relationships/slide" Target="/ppt/slides/slide12.xml" Id="Ra718db15344241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aaddd2a88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ab4a42c53e49ca" /><Relationship Type="http://schemas.openxmlformats.org/officeDocument/2006/relationships/notesMaster" Target="/ppt/notesMasters/notesMaster1.xml" Id="R70a40679e92844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cc1f66b25b4467" /><Relationship Type="http://schemas.openxmlformats.org/officeDocument/2006/relationships/notesMaster" Target="/ppt/notesMasters/notesMaster1.xml" Id="R4fe58f74b799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a3fc9529824cd4" /><Relationship Type="http://schemas.openxmlformats.org/officeDocument/2006/relationships/notesMaster" Target="/ppt/notesMasters/notesMaster1.xml" Id="R5f29d3b16f82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559445f7fe4aa9" /><Relationship Type="http://schemas.openxmlformats.org/officeDocument/2006/relationships/notesMaster" Target="/ppt/notesMasters/notesMaster1.xml" Id="Rcdc84be6bafc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9caad917bd4129" /><Relationship Type="http://schemas.openxmlformats.org/officeDocument/2006/relationships/notesMaster" Target="/ppt/notesMasters/notesMaster1.xml" Id="Rf68fb009a56644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86bcf636f14e99" /><Relationship Type="http://schemas.openxmlformats.org/officeDocument/2006/relationships/notesMaster" Target="/ppt/notesMasters/notesMaster1.xml" Id="R0ddbf9b523b247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b6c150b84b4580" /><Relationship Type="http://schemas.openxmlformats.org/officeDocument/2006/relationships/notesMaster" Target="/ppt/notesMasters/notesMaster1.xml" Id="R7de75781df7c4d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51d06908224a9a" /><Relationship Type="http://schemas.openxmlformats.org/officeDocument/2006/relationships/notesMaster" Target="/ppt/notesMasters/notesMaster1.xml" Id="Rcdfc76e052de47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b538c138a24bfa" /><Relationship Type="http://schemas.openxmlformats.org/officeDocument/2006/relationships/notesMaster" Target="/ppt/notesMasters/notesMaster1.xml" Id="R3b4c5ceaf4ff49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8b2851d31d4e63" /><Relationship Type="http://schemas.openxmlformats.org/officeDocument/2006/relationships/notesMaster" Target="/ppt/notesMasters/notesMaster1.xml" Id="Re3c61b48b34143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b07a1376224ed4" /><Relationship Type="http://schemas.openxmlformats.org/officeDocument/2006/relationships/notesMaster" Target="/ppt/notesMasters/notesMaster1.xml" Id="Rc8b4fd3a859d48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64e36662074a30" /><Relationship Type="http://schemas.openxmlformats.org/officeDocument/2006/relationships/notesMaster" Target="/ppt/notesMasters/notesMaster1.xml" Id="R816e3677d81d42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20 秒，说明系统定位和人工终审边界。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来源：项目文档 docs/competition/competition-solution.md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赛题明确要求录音或文本、要素提取、工单生成、分类和单位推荐、回复辅助，以及最终人工审核。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来源：https://cvmart.net/race/11419/des</a:t>
            </a:r>
          </a:p>
          <a:p xmlns:a="http://schemas.openxmlformats.org/drawingml/2006/main">
            <a:r>
              <a:t>来源：docs/competition/race-requirements-mapping.md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演示中沿着七个环节走完，不切换到互不关联的功能页。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来源：docs/competition/intake-contract.md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解释人在环中的具体操作，不把它描述成抽象理念。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来源：docs/competition/intake-contract.md</a:t>
            </a:r>
          </a:p>
          <a:p xmlns:a="http://schemas.openxmlformats.org/drawingml/2006/main">
            <a:r>
              <a:t>来源：web/README.md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保持确定性控制，pi-agent 只承担受控推理。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</a:t>
            </a:r>
          </a:p>
          <a:p xmlns:a="http://schemas.openxmlformats.org/drawingml/2006/main">
            <a:r>
              <a:t>来源：docs/architecture.md</a:t>
            </a:r>
          </a:p>
          <a:p xmlns:a="http://schemas.openxmlformats.org/drawingml/2006/main">
            <a:r>
              <a:t>来源：docs/competition/phase6-production-stack.md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文档均来自芜湖官方公开来源。入库保留来源单位、公开 URL、发布日期、类别、文档版本和 hash。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来源：docs/competition/phase4-official-knowledge-base.md</a:t>
            </a:r>
          </a:p>
          <a:p xmlns:a="http://schemas.openxmlformats.org/drawingml/2006/main">
            <a:r>
              <a:t>来源：wuhu_knowledge_base/summary.json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解释评测对象和范围，不把 95.83% 说成真实热线准确率。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来源：docs/competition/wuhu_routing_holdout_semantic_evaluation.json</a:t>
            </a:r>
          </a:p>
          <a:p xmlns:a="http://schemas.openxmlformats.org/drawingml/2006/main">
            <a:r>
              <a:t>来源：docs/competition/wuhu_rag_evaluation.json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这是未调参真实基线。官方 Excel 不是逐字稿，不能据此宣称 CER 或 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来源：docs/competition/phase2-official-audio-evaluation.md</a:t>
            </a:r>
          </a:p>
          <a:p xmlns:a="http://schemas.openxmlformats.org/drawingml/2006/main">
            <a:r>
              <a:t>来源：docs/competition/wuhu_official_audio_e2e_evaluation.json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案例二故意加入‘保证三天内全额退款’，现场展示门禁拦截。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来源：docs/competition/phase5-reply-compliance-gate.md</a:t>
            </a:r>
          </a:p>
          <a:p xmlns:a="http://schemas.openxmlformats.org/drawingml/2006/main">
            <a:r>
              <a:t>来源：docs/competition/wuhu_reply_compliance_evaluation.json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生产联调使用真实进程。最终容器部署使用官方 mongo:7.0 和 redis:7-alpine 镜像。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来源：docs/competition/phase6-production-stack.md</a:t>
            </a:r>
          </a:p>
          <a:p xmlns:a="http://schemas.openxmlformats.org/drawingml/2006/main">
            <a:r>
              <a:t>来源：docs/competition/wuhu_production_stack_benchmark.json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严格按 demo-script-5min.md 演示，避免超时。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来源：docs/competition/demo-script-5min.md</a:t>
            </a:r>
          </a:p>
          <a:p xmlns:a="http://schemas.openxmlformats.org/drawingml/2006/main">
            <a:r>
              <a:t>来源：https://cvmart.net/race/11419/des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收尾先讲当前可用范围，再讲落地条件。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来源：docs/competition/submission-checklist.md</a:t>
            </a:r>
          </a:p>
          <a:p xmlns:a="http://schemas.openxmlformats.org/drawingml/2006/main">
            <a:r>
              <a:t>来源：https://cvmart.net/race/11419/des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a848d496d4e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68a7a6c8b34037" /><Relationship Type="http://schemas.openxmlformats.org/officeDocument/2006/relationships/slideLayout" Target="/ppt/slideLayouts/slideLayout1.xml" Id="Rdf5993000cd34b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993000cd34b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f48f33e284cb7" /><Relationship Type="http://schemas.openxmlformats.org/officeDocument/2006/relationships/notesSlide" Target="/ppt/notesSlides/notesSlide1.xml" Id="Rd31287caa6ef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b8dd2f3424b19" /><Relationship Type="http://schemas.openxmlformats.org/officeDocument/2006/relationships/notesSlide" Target="/ppt/notesSlides/notesSlide2.xml" Id="R4bd974cfb6cf4e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ea0aff7cc4721" /><Relationship Type="http://schemas.openxmlformats.org/officeDocument/2006/relationships/notesSlide" Target="/ppt/notesSlides/notesSlide3.xml" Id="R7d9a8c752d3946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0aabd2a524206" /><Relationship Type="http://schemas.openxmlformats.org/officeDocument/2006/relationships/notesSlide" Target="/ppt/notesSlides/notesSlide4.xml" Id="R3dc6e899a61d44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ea80ed3dd46db" /><Relationship Type="http://schemas.openxmlformats.org/officeDocument/2006/relationships/notesSlide" Target="/ppt/notesSlides/notesSlide5.xml" Id="R1231a68ab9384f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2bea82cd64899" /><Relationship Type="http://schemas.openxmlformats.org/officeDocument/2006/relationships/chart" Target="/ppt/slides/charts/chart1.xml" Id="Rf28842faa766417e" /><Relationship Type="http://schemas.openxmlformats.org/officeDocument/2006/relationships/notesSlide" Target="/ppt/notesSlides/notesSlide6.xml" Id="R74588a53acc34b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a7c952029400f" /><Relationship Type="http://schemas.openxmlformats.org/officeDocument/2006/relationships/chart" Target="/ppt/slides/charts/chart2.xml" Id="R703ae68fa64f43b4" /><Relationship Type="http://schemas.openxmlformats.org/officeDocument/2006/relationships/notesSlide" Target="/ppt/notesSlides/notesSlide7.xml" Id="R18ba5f0476e9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5491b47c64670" /><Relationship Type="http://schemas.openxmlformats.org/officeDocument/2006/relationships/chart" Target="/ppt/slides/charts/chart3.xml" Id="R181cd8fa925e411f" /><Relationship Type="http://schemas.openxmlformats.org/officeDocument/2006/relationships/notesSlide" Target="/ppt/notesSlides/notesSlide8.xml" Id="R37e12bbb51834f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6569a969849c2" /><Relationship Type="http://schemas.openxmlformats.org/officeDocument/2006/relationships/notesSlide" Target="/ppt/notesSlides/notesSlide9.xml" Id="R387a88e74f9b4f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9b4a24c74010" /><Relationship Type="http://schemas.openxmlformats.org/officeDocument/2006/relationships/notesSlide" Target="/ppt/notesSlides/notesSlide10.xml" Id="Rb06513015fc44e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dae55f2fe47fb" /><Relationship Type="http://schemas.openxmlformats.org/officeDocument/2006/relationships/notesSlide" Target="/ppt/notesSlides/notesSlide11.xml" Id="R607db803c16c4b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7577830414206" /><Relationship Type="http://schemas.openxmlformats.org/officeDocument/2006/relationships/notesSlide" Target="/ppt/notesSlides/notesSlide12.xml" Id="R131dbe14644143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文档数</c:v>
          </c:tx>
          <c:spPr>
            <a:solidFill xmlns:a="http://schemas.openxmlformats.org/drawingml/2006/main">
              <a:srgbClr val="B91C1C"/>
            </a:solidFill>
          </c:spPr>
          <c:cat>
            <c:strRef>
              <c:f>'Chart Data'!$A$2:$A$13</c:f>
              <c:strCache>
                <c:ptCount val="12"/>
                <c:pt idx="0">
                  <c:v>农林水土</c:v>
                </c:pt>
                <c:pt idx="1">
                  <c:v>城市管理</c:v>
                </c:pt>
                <c:pt idx="2">
                  <c:v>生态环境</c:v>
                </c:pt>
                <c:pt idx="3">
                  <c:v>经济政务</c:v>
                </c:pt>
                <c:pt idx="4">
                  <c:v>科教文体</c:v>
                </c:pt>
                <c:pt idx="5">
                  <c:v>卫生健康</c:v>
                </c:pt>
                <c:pt idx="6">
                  <c:v>城乡建设</c:v>
                </c:pt>
                <c:pt idx="7">
                  <c:v>劳动社保</c:v>
                </c:pt>
                <c:pt idx="8">
                  <c:v>市场监管</c:v>
                </c:pt>
                <c:pt idx="9">
                  <c:v>公共安全</c:v>
                </c:pt>
                <c:pt idx="10">
                  <c:v>公共服务</c:v>
                </c:pt>
                <c:pt idx="11">
                  <c:v>交通运输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21</c:v>
                </c:pt>
                <c:pt idx="1">
                  <c:v>21</c:v>
                </c:pt>
                <c:pt idx="2">
                  <c:v>24</c:v>
                </c:pt>
                <c:pt idx="3">
                  <c:v>20</c:v>
                </c:pt>
                <c:pt idx="4">
                  <c:v>22</c:v>
                </c:pt>
                <c:pt idx="5">
                  <c:v>21</c:v>
                </c:pt>
                <c:pt idx="6">
                  <c:v>25</c:v>
                </c:pt>
                <c:pt idx="7">
                  <c:v>20</c:v>
                </c:pt>
                <c:pt idx="8">
                  <c:v>22</c:v>
                </c:pt>
                <c:pt idx="9">
                  <c:v>24</c:v>
                </c:pt>
                <c:pt idx="10">
                  <c:v>24</c:v>
                </c:pt>
                <c:pt idx="1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622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通过率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Data'!$A$2:$A$6</c:f>
              <c:strCache>
                <c:ptCount val="5"/>
                <c:pt idx="0">
                  <c:v>路由 Top-1</c:v>
                </c:pt>
                <c:pt idx="1">
                  <c:v>路由 Top-K</c:v>
                </c:pt>
                <c:pt idx="2">
                  <c:v>RAG Recall@5</c:v>
                </c:pt>
                <c:pt idx="3">
                  <c:v>引用正确率</c:v>
                </c:pt>
                <c:pt idx="4">
                  <c:v>答案一致性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95.83</c:v>
                </c:pt>
                <c:pt idx="1">
                  <c:v>95.83</c:v>
                </c:pt>
                <c:pt idx="2">
                  <c:v>100</c:v>
                </c:pt>
                <c:pt idx="3">
                  <c:v>100</c:v>
                </c:pt>
                <c:pt idx="4">
                  <c:v>95.45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622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通过率</c:v>
          </c:tx>
          <c:spPr>
            <a:solidFill xmlns:a="http://schemas.openxmlformats.org/drawingml/2006/main">
              <a:srgbClr val="B91C1C"/>
            </a:solidFill>
          </c:spPr>
          <c:cat>
            <c:strRef>
              <c:f>'Chart Data'!$A$2:$A$6</c:f>
              <c:strCache>
                <c:ptCount val="5"/>
                <c:pt idx="0">
                  <c:v>ASR 成功</c:v>
                </c:pt>
                <c:pt idx="1">
                  <c:v>双角色检出</c:v>
                </c:pt>
                <c:pt idx="2">
                  <c:v>字段通过</c:v>
                </c:pt>
                <c:pt idx="3">
                  <c:v>部门 Top-1</c:v>
                </c:pt>
                <c:pt idx="4">
                  <c:v>部门 Top-K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94.44</c:v>
                </c:pt>
                <c:pt idx="2">
                  <c:v>5.55</c:v>
                </c:pt>
                <c:pt idx="3">
                  <c:v>33.33</c:v>
                </c:pt>
                <c:pt idx="4">
                  <c:v>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622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6C525-FD49-45D1-BEFB-ECF3724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71E79-231A-432E-8105-01AE1D8A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芜湖 12345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智慧助手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D2E25-3E0B-4222-935D-4087012B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E7ED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7EDF5"/>
                </a:solidFill>
                <a:latin typeface="Microsoft YaHei"/>
                <a:ea typeface="Microsoft YaHei"/>
                <a:cs typeface="Microsoft YaHei"/>
              </a:rPr>
              <a:t>从群众录音到可信工单、精准转派与合规回复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5AA6C-4B44-4EE7-83AD-25E24FE7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C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4BC9C-41E0-452F-9C19-78FAC222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CA5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CA5A5"/>
                </a:solidFill>
                <a:latin typeface="Microsoft YaHei"/>
                <a:ea typeface="Microsoft YaHei"/>
                <a:cs typeface="Microsoft YaHei"/>
              </a:rPr>
              <a:t>比赛复赛答辩材料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863C8-7C1F-44B7-8649-0869C553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C9D5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D5E5"/>
                </a:solidFill>
                <a:latin typeface="Microsoft YaHei"/>
                <a:ea typeface="Microsoft YaHei"/>
                <a:cs typeface="Microsoft YaHei"/>
              </a:rPr>
              <a:t>团队名称：待填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C9D5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D5E5"/>
                </a:solidFill>
                <a:latin typeface="Microsoft YaHei"/>
                <a:ea typeface="Microsoft YaHei"/>
                <a:cs typeface="Microsoft YaHei"/>
              </a:rPr>
              <a:t>2026 年 9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4A77D-17D5-410F-A922-7959E333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人审保留在每个关键节点</a:t>
            </a:r>
          </a:p>
        </p:txBody>
      </p:sp>
    </p:spTree>
    <p:extLst>
      <p:ext uri="{BB962C8B-B14F-4D97-AF65-F5344CB8AC3E}">
        <p14:creationId xmlns:p14="http://schemas.microsoft.com/office/powerpoint/2010/main" val="1914279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0713C-B550-4965-B5A7-65A946E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5BF96-DC17-420E-9719-7DAA3F1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赛题要求与产品定位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64F15-097A-4D0C-BB8B-D94FBE9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完整链路比单点模型指标更重要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6B063-060D-464B-940A-FBC6365B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56760-E01D-43AF-9FEE-0BED0AA1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2AC15-B420-49EF-8A39-D2B3A0F2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业务痛点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3D58C-0D15-44CD-A11D-D46BCC93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口语信息分散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跨部门责任难判断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政策回复需要可信依据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09B29-9F59-42AA-8005-F7CE58F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产品回答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26333-BBCC-4126-B32E-6417C4A1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把受理、工单、转派、检索与回复连接成同一条可审计流程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EFFDC-A18A-49F9-A8D6-C59142F3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6210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8691D-15AD-4E64-BD4D-6A5BBF2B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模型提供草稿与证据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工作人员确认最终工单、承办部门和回复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D4A16-7AFD-4150-8646-7160AAA3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7A4C7-D14D-4A52-8F44-7CBF05D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比赛必选能力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34872-F67D-4FA6-AA10-9571444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录音/文本输入   要素理解与追问   标准工单   分类转派   政策依据与回复   人工确认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FB2BA-2B71-46A0-90A7-27F49522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当前系统已覆盖全部必选环节，并用两个不同事项类型完成演示</a:t>
            </a:r>
          </a:p>
        </p:txBody>
      </p:sp>
    </p:spTree>
    <p:extLst>
      <p:ext uri="{BB962C8B-B14F-4D97-AF65-F5344CB8AC3E}">
        <p14:creationId xmlns:p14="http://schemas.microsoft.com/office/powerpoint/2010/main" val="437326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2120B9-BF72-440A-B0F4-DDC6B60B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FE680-A8D3-49B6-A850-4D84A1A5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端到端业务流程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3BA87-683C-4026-A2EA-12656CE1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同一工单契约贯穿受理与处置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370E9-BA0C-4FEC-A18F-48694A3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71F6E-4425-4754-B6E0-5AA8293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C34C5-9903-4A4E-AFAB-1FD59FB9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381125" cy="1619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0D5E9-29CD-45AE-8DD5-CCC80E61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7F5C6-8578-4E62-BF33-4FC6A988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152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录音或文本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EE0F3-DBA4-4E21-BD02-FB4077BE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46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本地转写与校对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FD5F3-7690-4035-A50F-95DD70E8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95500"/>
            <a:ext cx="1381125" cy="1619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761E3-2580-4665-B5A8-F87ACA3F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85AFD-903D-46B9-8772-699A2314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57475"/>
            <a:ext cx="1152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要素抽取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FCEA-841B-4EDF-AA1D-EF20C9F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432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46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证据与缺失提示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82BE4-7482-45F1-8A80-BB9A1551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1381125" cy="1619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91C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0B8AF-A76A-43B9-A472-9B47656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65A61-0557-4B46-B844-166D58C8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57475"/>
            <a:ext cx="1152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标准工单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721BC-AF44-4212-833C-D970B5A8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营业员确认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250DB-7528-4C2C-B84E-73C94A67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95500"/>
            <a:ext cx="1381125" cy="1619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70CE4-8842-4C12-A355-7771F31B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92220-F7C8-4CCD-BA60-9B0BC221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57475"/>
            <a:ext cx="1152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分类转派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B0196-67D9-4A42-BB86-863C707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432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46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主办与候选协办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4D369-37D9-4E43-BDA9-00C8664F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381125" cy="1619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C5256-14C0-4719-8161-2F8FFA3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A21D1-AD82-4478-BE66-378A537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57475"/>
            <a:ext cx="1152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政策检索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06E34-3FD4-47BB-AB0E-384EC1C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10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BM25 与本地 BGE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AD995-C3D9-4E65-8A32-76266A54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381125" cy="1619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78866-FEDD-41DD-A78B-F31EB479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32452-1231-4E1A-A81C-FE4A5368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57475"/>
            <a:ext cx="1152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回复草稿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8CDF0A-1828-4227-90AC-C0E5EE67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46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引用与合规检查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7692B7-0069-449F-9BDC-F4154291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95500"/>
            <a:ext cx="1381125" cy="1619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91C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B2A93-A4B4-405C-8BE0-E6315429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BCA9AC-DFDB-4563-A1A9-7947BAA8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57475"/>
            <a:ext cx="1152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处理结果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2BF90-3CE8-43F4-9664-4DA98C9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432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管理员终审</a:t>
            </a:r>
          </a:p>
        </p:txBody>
      </p:sp>
      <p:cxnSp>
        <p:nvCxnSpPr>
          <p:cNvPr id="7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52625" y="29051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90925" y="29051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229225" y="29051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867525" y="29051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505825" y="29051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0144125" y="29051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5C76A5-A3B8-4A0E-8663-75E6497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48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B044CA-48EF-4A86-A369-5DB749AB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481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confirmed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E8781F-EB50-4204-A770-08F4D99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processing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2B9EBA-1840-4AE6-A142-EF2A78BD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48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094BB8-0069-47D4-B4AD-85B5655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958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工单状态机阻止草稿绕过人工确认</a:t>
            </a:r>
          </a:p>
        </p:txBody>
      </p:sp>
    </p:spTree>
    <p:extLst>
      <p:ext uri="{BB962C8B-B14F-4D97-AF65-F5344CB8AC3E}">
        <p14:creationId xmlns:p14="http://schemas.microsoft.com/office/powerpoint/2010/main" val="149592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F5C45-B0AB-4863-857D-60940F78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A82A6-01C0-456D-B02B-DF813552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三类角色与人工审核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57C3D-8152-40DF-867A-38A9235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系统默认保持人在环中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7C790-696C-4F93-B7C0-8DB5C66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55029-3443-4B2B-99D7-81B16F9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51A4B-0049-4FEA-901C-9C4B7061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24AE1-CF9F-4345-9409-B6B73AA1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A0AE9-D2D2-4702-AC9F-0ED1E79F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营业员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8D537-7D62-4AEE-884C-4448A357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校对转写</a:t>
            </a:r>
          </a:p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补充缺失信息</a:t>
            </a:r>
          </a:p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确认标准工单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78913-CE6D-4957-B2A9-51A868AC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D44A7-5F5F-44DC-9F91-A98141A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E545C-75E0-43FC-A8C1-868D0CD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部门管理员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F4083-5B89-4302-AB67-CF4BB7CD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领取处置</a:t>
            </a:r>
          </a:p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复核主办与协办</a:t>
            </a:r>
          </a:p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修改并确认回复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957C1-46FE-4237-8C06-FDE9F783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978D5-F22D-42B0-BBC6-1DCEDAEF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160E8-27BE-4DA3-BB76-393445B3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1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系统管理员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79D7A-8BB2-41CF-B7D7-50DE673B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知识与账号治理</a:t>
            </a:r>
          </a:p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查看评测证据</a:t>
            </a:r>
          </a:p>
          <a:p xmlns:a="http://schemas.openxmlformats.org/drawingml/2006/main">
            <a:pPr marL="203200" indent="-101600">
              <a:spcAft>
                <a:spcPts val="500"/>
              </a:spcAft>
              <a:buChar char="•"/>
              <a:def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控制灰度和回滚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3000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258050" y="3000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23CB0-2D79-42F0-AD03-29FEEF8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模型输出无法直接转派、办结或对外发送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9AFCD-E627-4E51-AAE1-C684025D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审核记录保存修改人、状态、来源证据与最终文本</a:t>
            </a:r>
          </a:p>
        </p:txBody>
      </p:sp>
    </p:spTree>
    <p:extLst>
      <p:ext uri="{BB962C8B-B14F-4D97-AF65-F5344CB8AC3E}">
        <p14:creationId xmlns:p14="http://schemas.microsoft.com/office/powerpoint/2010/main" val="893172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61339-381F-4BF3-A751-76D35E10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0030C-4152-437B-A5A6-86150A5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71D57-DCEE-4F3B-9016-7878907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固定控制平面约束概率性模型能力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4FE52-573A-4DE4-9466-753AEDED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B7409-4C78-4198-9A3E-D07C992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5169C-CB4A-4F4F-8D15-6398F16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7F176-2D42-47E5-9713-ED412E01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4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Next.js 15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三角色工作台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388BA-6FE2-4F0E-AFC6-AA5B885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3333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91C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3FA50-7032-4899-ACD0-21AE6456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573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8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FastAPI 控制平面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35BC3-3345-4A99-810C-27BFEA5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622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鉴权、状态机、业务 DAG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部门隔离、合规门禁、审计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D7A53-6DFC-473C-A4AE-D73538B6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C679B-2DBF-4881-BD7A-0EB93028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4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可选 pi-agent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受控模型调用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14650" y="2466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53250" y="24669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4D808-BB76-49EC-955E-BBD7671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C3753-CB39-448D-9564-2BA64CB2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38675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MongoDB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工单、文档、chunk、向量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45952-4F18-4226-A23E-0BFDA0AC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BF5BA-5BBA-4D07-8B50-B6F0E447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38675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73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Redis Stream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任务、重试、死信、心跳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C0BAB-2D77-4BB0-9098-DA475B04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BD851-98C5-4122-8557-7DE61332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38675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785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本地模型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Whisper、CAM++、BGE</a:t>
            </a:r>
          </a:p>
        </p:txBody>
      </p:sp>
      <p:cxnSp>
        <p:nvCxnSpPr>
          <p:cNvPr id="45" name=""/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3048000" y="3267075"/>
            <a:ext cx="2238375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286375" y="3267075"/>
            <a:ext cx="809625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286375" y="3267075"/>
            <a:ext cx="3857625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CC8D2-12B1-4109-B042-D007C972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531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外部大模型默认关闭，只接收获得授权后的脱敏文本</a:t>
            </a:r>
          </a:p>
        </p:txBody>
      </p:sp>
    </p:spTree>
    <p:extLst>
      <p:ext uri="{BB962C8B-B14F-4D97-AF65-F5344CB8AC3E}">
        <p14:creationId xmlns:p14="http://schemas.microsoft.com/office/powerpoint/2010/main" val="1489702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E4CE0-BD17-4BD0-920F-51565E33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1F06C-4D5A-48AF-80EB-0FD66B2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芜湖官方知识库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EEED8-8393-4132-87E8-EB7001DD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 类、264 份正文文档、1,884 个可追溯 chunk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5101B-BBC8-44F0-96B6-C114E3DF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EE0E6-5CC8-4E6A-A9F4-4321D19B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FD649-FB05-42DD-BEC0-85FA09D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b">
            <a:normAutofit fontScale="94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264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204FF-1588-4E71-A7FD-D1EC37F2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官方正文文档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EABB3-97C8-4A69-91CA-A2EEA560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b">
            <a:normAutofit fontScale="94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1,884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A8E22-2C79-43B1-BF04-FBE6833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活动 chunks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8AC28-A6F9-48AD-AAF2-4BCE0C1B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b">
            <a:normAutofit fontScale="94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17A5E-91F4-4C06-B6F2-8FF0956D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本地 BGE 维度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4E7AE-6AB3-4182-A400-F84037A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b">
            <a:normAutofit fontScale="94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20–25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C8573-319E-4C8B-9D85-8411AF73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每类文档数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704850" y="3048000"/>
          <a:ext xmlns:a="http://schemas.openxmlformats.org/drawingml/2006/main" cx="10763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8842faa766417e"/>
          </a:graphicData>
        </a:graphic>
      </p:graphicFrame>
    </p:spTree>
    <p:extLst>
      <p:ext uri="{BB962C8B-B14F-4D97-AF65-F5344CB8AC3E}">
        <p14:creationId xmlns:p14="http://schemas.microsoft.com/office/powerpoint/2010/main" val="78862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DCD4C-68C1-40D1-8C3A-DEDF27D8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22946-1CA2-416D-A712-3D6FA3D1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分类与检索门禁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35B67-1B2E-43B9-A3B7-B78DE78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冻结留出集和官方问答集分别验证两个环节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06204-01D9-4190-9359-AAF58524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BE07C-B248-495A-930A-80FDD60A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733550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3ae68fa64f43b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30759-9D41-43F1-9B39-1B471087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288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评测边界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D1C99-C277-4AEE-977E-91CD4095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路由成绩来自 12 类、24 份冻结官方正文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RAG 使用现有官方测试问题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新增政策后重新冻结测试集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不把文档分类成绩等同于电话端到端成绩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7ED21-022D-4900-8BE0-F7790B3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5300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关键点一致性从 81.82% 继续提升到 95.45%</a:t>
            </a:r>
          </a:p>
        </p:txBody>
      </p:sp>
    </p:spTree>
    <p:extLst>
      <p:ext uri="{BB962C8B-B14F-4D97-AF65-F5344CB8AC3E}">
        <p14:creationId xmlns:p14="http://schemas.microsoft.com/office/powerpoint/2010/main" val="192159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1613-772D-4042-B5AC-579D868E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B031-62F5-4C27-87A2-2ADD2436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真实录音端到端基线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81EC3-F602-4D78-BB18-DB56563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 条比赛录音、112.42 分钟、全程本地处理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5D2E5-E88C-4E82-AE40-29B1BAE5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07687-227A-4B1E-8149-8279344A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1cd8fa925e411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971D-7446-4BBD-909C-54CE507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事实判断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4E32B-7652-4FCC-8F34-7E79516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314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1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音频解码、转写和角色检测已经稳定跑通，口语噪声后的工单整理与路由仍是首要风险。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E9475-D636-4328-9E43-92D48B76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433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703B1-38D4-43BB-B7CA-FFA5C26E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产品应对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C9892-662B-4A23-80A7-BF358AB9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7680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播放校对、缺失追问、字段证据、规则降级、人工终审</a:t>
            </a:r>
          </a:p>
        </p:txBody>
      </p:sp>
    </p:spTree>
    <p:extLst>
      <p:ext uri="{BB962C8B-B14F-4D97-AF65-F5344CB8AC3E}">
        <p14:creationId xmlns:p14="http://schemas.microsoft.com/office/powerpoint/2010/main" val="1044149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1FE49-0BC9-48E7-9B70-F3E2F421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04AF5-3175-413E-BBC0-214FDDFC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回复合规与发布门禁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AF9C1-5E5C-42FB-A21C-223FAB02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系统生成草稿，工作人员拥有最终决定权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E3519-E563-4FC9-9908-84286720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1EDFE-FF23-426D-9DBC-01E1B1C4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6211A-5858-4541-9536-B5EB3AE8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1161F-C566-4CE4-8B36-58A5C701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3360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50F87-407F-4342-BA8D-D1E42855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19375"/>
            <a:ext cx="1647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来源存在且 chunk 仍有效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CAA7B-4E4C-475E-B573-F45DA086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52625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647F1-8765-463D-9587-40860B7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059FA-007C-41C8-BE64-0B01300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19375"/>
            <a:ext cx="1647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金额、时限必须有政策证据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B8FCA-B5B1-40BD-AC31-483CAA1E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952625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51453-E6A0-4C0C-BCE9-D8430FA9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3360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隐私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E4BCD-08B9-4479-BA1D-245269DA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1647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禁止泄露未脱敏身份信息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5A7EC-0A95-4F9A-B7BF-741D431C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52625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C7586-6B48-4E9E-9527-4E733EB0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承诺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4711A-5E83-491F-97BF-AA7880E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19375"/>
            <a:ext cx="1647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拦截保证办理、绝对时限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18411-8F71-4CDF-AA95-D479DA9F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952625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22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29F69-0E11-4400-8917-30073034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3360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完整性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F4500-B86B-4187-9D9A-1AD239E6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19375"/>
            <a:ext cx="1647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说明依据、下一步和办理边界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C0698-E6A4-4C84-B85C-D3E98DD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148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门禁不通过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6FD6E-7102-433D-B7A7-FEAA40E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返回修改原因与证据缺口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FC74C-0EB0-40F7-AC10-9C4A24FD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101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748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2CC46-70F3-4D2E-AEF3-111BFD4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人工修改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8861F-D6C5-4B08-9063-F41B0E49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67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部门管理员复核正文和承办结论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60082-A76C-4138-B13C-EE0DAE37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101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74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56720-E371-48C4-9C65-739AEA6A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确认结果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FABD15-8137-4F05-BA24-AC7B1C18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67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系统记录审核人与最终文本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5F3C7-41D2-4C0B-AAEC-A6B698AC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11 条离线用例和 3 条已配置大模型烟测均通过，仍不允许自动发送</a:t>
            </a:r>
          </a:p>
        </p:txBody>
      </p:sp>
    </p:spTree>
    <p:extLst>
      <p:ext uri="{BB962C8B-B14F-4D97-AF65-F5344CB8AC3E}">
        <p14:creationId xmlns:p14="http://schemas.microsoft.com/office/powerpoint/2010/main" val="563762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70DA3-EDF6-4EF2-BF19-6682729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0A5A1-8022-40B3-B01C-F6976C41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生产同构联调与压测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2C201-450A-490B-A17F-ECABBF45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 MongoDB、Redis Stream、本地 BGE 与独立 Worker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03424-062C-4285-8FD6-E72242C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ABC69-42D9-4C01-9589-A260C2F1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04850" y="1695450"/>
          <a:ext xmlns:a="http://schemas.openxmlformats.org/drawingml/2006/main" cx="723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809750"/>
                <a:gridCol w="1714500"/>
                <a:gridCol w="1428750"/>
              </a:tblGrid>
              <a:tr h="519793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门槛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官方文档入库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264 成功 / 0 失败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失败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66675" marR="66675" marT="66675" marB="66675" anchor="ctr">
                    <a:solidFill>
                      <a:srgbClr val="DFF3E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向量检索错误率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1%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66675" marR="66675" marT="66675" marB="66675" anchor="ctr">
                    <a:solidFill>
                      <a:srgbClr val="DFF3E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向量检索 P95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1.02ms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2,000ms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66675" marR="66675" marT="66675" marB="66675" anchor="ctr">
                    <a:solidFill>
                      <a:srgbClr val="DFF3E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 作业错误率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1%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66675" marR="66675" marT="66675" marB="66675" anchor="ctr">
                    <a:solidFill>
                      <a:srgbClr val="DFF3E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 作业 P95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1,215.41ms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5,000ms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66675" marR="66675" marT="66675" marB="66675" anchor="ctr">
                    <a:solidFill>
                      <a:srgbClr val="DFF3EF"/>
                    </a:solidFill>
                  </a:tcPr>
                </a:tc>
              </a:tr>
              <a:tr h="519793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 超时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6675" marR="66675" marT="66675" marB="66675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66675" marR="66675" marT="66675" marB="66675" anchor="ctr">
                    <a:solidFill>
                      <a:srgbClr val="DFF3E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5327F-233B-4C50-A84D-14A01F9A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b">
            <a:normAutofit fontScale="94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3 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2E0DE-14C2-43AF-AA81-58136E2A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失败重试后进入死信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E1039-B6E4-4115-B7CD-5957466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b">
            <a:normAutofit fontScale="94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77.92/s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3EFF5-A958-4A5F-BA83-E0C36CC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Worker 单机吞吐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A104C-C383-4547-80B3-E9780DD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3000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第一次检索 P95 为 4,039.15ms。改用 NumPy 矩阵批量点积后，在同一规模复测通过。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E3797-5617-40A0-8E61-AEA9E9A4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单机、1,884 向量，不包含 ASR 和外部模型时延</a:t>
            </a:r>
          </a:p>
        </p:txBody>
      </p:sp>
    </p:spTree>
    <p:extLst>
      <p:ext uri="{BB962C8B-B14F-4D97-AF65-F5344CB8AC3E}">
        <p14:creationId xmlns:p14="http://schemas.microsoft.com/office/powerpoint/2010/main" val="12248429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40440-827C-46BC-BAD0-9590F6B2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74B23-D22C-47D8-AF7B-08704BD6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双案例演示安排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EA85A-EADC-49D7-B40C-D41D4D6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两种事项类型都走完整链路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DAD98-F86A-4EE0-BEFF-F3429595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C65E0-9C23-4347-8D35-8CA68E78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47700" y="17335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571750"/>
                <a:gridCol w="3143250"/>
                <a:gridCol w="2857500"/>
              </a:tblGrid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输入与难点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核心展示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人工节点</a:t>
                      </a:r>
                    </a:p>
                  </a:txBody>
                  <a:tcPr marL="76200" marR="76200" marT="76200" marB="76200">
                    <a:solidFill>
                      <a:srgbClr val="162235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城市管理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夜间占道噪声</a:t>
                      </a:r>
                    </a:p>
                  </a:txBody>
                  <a:tcPr marL="85725" marR="85725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录音输入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地点不完整</a:t>
                      </a:r>
                    </a:p>
                  </a:txBody>
                  <a:tcPr marL="85725" marR="85725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角色转写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缺失追问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主办与协办建议</a:t>
                      </a:r>
                    </a:p>
                  </a:txBody>
                  <a:tcPr marL="85725" marR="85725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营业员校对并确认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部门管理员复核回复</a:t>
                      </a:r>
                    </a:p>
                  </a:txBody>
                  <a:tcPr marL="85725" marR="85725" marT="95250" marB="9525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市场监管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培训退费争议</a:t>
                      </a:r>
                    </a:p>
                  </a:txBody>
                  <a:tcPr marL="85725" marR="85725" marT="95250" marB="9525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文本输入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涉及 12315 职责</a:t>
                      </a:r>
                    </a:p>
                  </a:txBody>
                  <a:tcPr marL="85725" marR="85725" marT="95250" marB="9525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官方依据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候选协办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绝对承诺拦截</a:t>
                      </a:r>
                    </a:p>
                  </a:txBody>
                  <a:tcPr marL="85725" marR="85725" marT="95250" marB="9525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管理员修改承诺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确认最终处理结果</a:t>
                      </a:r>
                    </a:p>
                  </a:txBody>
                  <a:tcPr marL="85725" marR="85725" marT="95250" marB="9525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B381E-B254-4EED-8C0C-1694DE21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 分钟节奏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EA927-FA03-4A06-BECC-F4738A40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定位 25 秒   案例一 185 秒   案例二 55 秒   证据 25 秒   收束 10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A05A5-C81F-4CA3-B0D2-26544929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912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现场故障时使用同一案例的缓存脱敏转写，并明确说明降级</a:t>
            </a:r>
          </a:p>
        </p:txBody>
      </p:sp>
    </p:spTree>
    <p:extLst>
      <p:ext uri="{BB962C8B-B14F-4D97-AF65-F5344CB8AC3E}">
        <p14:creationId xmlns:p14="http://schemas.microsoft.com/office/powerpoint/2010/main" val="10156727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00F77-BDA6-4515-B2D6-A1B9EE56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FEFCB-261B-4BAA-841D-B313A8DF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比赛交付与芜湖落地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CBC92-12A3-4293-80B9-9F852BD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当前版本适合只读辅助和人工确认试点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24A8F-5327-43B5-A137-B06ACE3A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3AC8F-7530-4A55-A41D-4A5084C6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C8A60-4172-4F9F-8B95-44FD6CD2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C9F69-8102-4794-A622-B912A9B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667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比赛要求的完整连通流程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12 类芜湖官方知识库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真实录音、冻结路由、RAG 与回复门禁评测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MongoDB、Redis、BGE、Worker 生产同构联调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709B4-D9BF-48B7-A2A2-16C5694E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落地前必须完成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579EC-7EEF-4D93-B0DC-C0352D7E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带人工逐字稿和时间戳的独立录音留出集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目标环境全链路容量测试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统一身份认证与真实工单平台对接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数据安全、模型服务和日志保留评审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919BB-0BE5-4016-93E5-E933D952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3355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92707-1F5B-4B7E-A252-D2AB62B2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235"/>
                </a:solidFill>
                <a:latin typeface="Microsoft YaHei"/>
                <a:ea typeface="Microsoft YaHei"/>
                <a:cs typeface="Microsoft YaHei"/>
              </a:rPr>
              <a:t>受理更快，转派有据，回复可审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F7B39-9710-4D81-800B-570029B7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91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最终决定权始终留给工作人员</a:t>
            </a:r>
          </a:p>
        </p:txBody>
      </p:sp>
    </p:spTree>
    <p:extLst>
      <p:ext uri="{BB962C8B-B14F-4D97-AF65-F5344CB8AC3E}">
        <p14:creationId xmlns:p14="http://schemas.microsoft.com/office/powerpoint/2010/main" val="36300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2026-09-15T18:24:52.4180000Z</dcterms:created>
  <dcterms:modified xsi:type="dcterms:W3CDTF">2026-09-15T18:24:52.4180000Z</dcterms:modified>
</coreProperties>
</file>